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9141E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42032"/>
            <a:ext cx="12191695" cy="173736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18288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Arial Black"/>
              </a:defRPr>
            </a:pPr>
            <a:r>
              <a:t>PITWALL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2011680" cy="411480"/>
          </a:xfrm>
          <a:prstGeom prst="round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F1 FAN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CBD5E1"/>
                </a:solidFill>
                <a:latin typeface="Arial"/>
              </a:defRPr>
            </a:pPr>
            <a:r>
              <a:t>Personal F1 Telemetry Command Center</a:t>
            </a:r>
          </a:p>
          <a:p>
            <a:pPr>
              <a:defRPr sz="2800">
                <a:solidFill>
                  <a:srgbClr val="94A3B8"/>
                </a:solidFill>
                <a:latin typeface="Arial"/>
              </a:defRPr>
            </a:pPr>
            <a:r>
              <a:t>with Live Race Replay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2926080" cy="457200"/>
          </a:xfrm>
          <a:prstGeom prst="roundRect">
            <a:avLst/>
          </a:prstGeom>
          <a:solidFill>
            <a:srgbClr val="1E1E28"/>
          </a:solidFill>
          <a:ln w="254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D2BE"/>
                </a:solidFill>
              </a:defRPr>
            </a:pPr>
            <a:r>
              <a:t>REPLAY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303520"/>
            <a:ext cx="2926080" cy="457200"/>
          </a:xfrm>
          <a:prstGeom prst="roundRect">
            <a:avLst/>
          </a:prstGeom>
          <a:solidFill>
            <a:srgbClr val="1E1E28"/>
          </a:solidFill>
          <a:ln w="254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8000"/>
                </a:solidFill>
              </a:defRPr>
            </a:pPr>
            <a:r>
              <a:t>LIVE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303520"/>
            <a:ext cx="2926080" cy="457200"/>
          </a:xfrm>
          <a:prstGeom prst="roundRect">
            <a:avLst/>
          </a:prstGeom>
          <a:solidFill>
            <a:srgbClr val="1E1E28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D1C24"/>
                </a:solidFill>
              </a:defRPr>
            </a:pPr>
            <a:r>
              <a:t>TYRE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React 19  |  TypeScript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41C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PROJECT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277295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45720" cy="5029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→ Comprehensive F1 Fan Command Center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Web application for live telemetry, race replay, and analytics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Live Session Countdown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Real-time timer with weekend timetable and next race hero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Interactive Race Replay Engine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20 cars animated on GPS track with timing tower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Deep Telemetry Analysis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Bayesian tyre degradation, sector breakdowns, lap evolution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Multi-Source Data Pipeline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OpenF1, Jolpica Ergast, FastF1 with intelligent fallbacks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Modern Tech Stack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React 19, TypeScript, Tailwind CSS 4, TanStack Query 5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</a:defRPr>
            </a:pPr>
            <a:r>
              <a:t>→ Dual Theme System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   Race Night / Race Day with View Transitions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61C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5720" cy="50292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8000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• React 19.2.8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Latest concurrent features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TypeScript 6.0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Strict mode enabled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Tailwind CSS 4.3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Semantic design tokens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Motion 14.0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GPU-accelerated animations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TanStack Query 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24h cache persistence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React Router 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Lazy-loaded routes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Lucide React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Icon library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Vite 8.3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Lightning-fast builds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5255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9535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45720" cy="5029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3855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2BE"/>
                </a:solidFill>
              </a:defRPr>
            </a:pPr>
            <a:r>
              <a:t>DATA &amp;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• OpenF1 API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Live telemetry stream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Jolpica Ergast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Historical archives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FastF1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GPS circuit geometry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Static JSON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Pre-extracted datasets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React Context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Global state management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localStorage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Persistent cache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Bayesian Models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Tyre degradation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• Type-Safe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 Full TypeScript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6141C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APPLICATION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1277295" cy="1234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11277295" cy="1234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63040"/>
            <a:ext cx="45720" cy="1234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10600"/>
                </a:solidFill>
              </a:defRPr>
            </a:pPr>
            <a:r>
              <a:t>PRESENTATION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→ Pages (Route Components)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Features (Domain Modules)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UI Components (Reusable)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11277295" cy="1234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788920"/>
            <a:ext cx="11277295" cy="1234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45720" cy="123444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00"/>
                </a:solidFill>
              </a:defRPr>
            </a:pPr>
            <a:r>
              <a:t>STATE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71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→ TanStack Query Cache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React Context (Theme, TZ)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localStorage Persistence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0520"/>
            <a:ext cx="11277295" cy="1234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77295" cy="1234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45720" cy="12344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BE"/>
                </a:solidFill>
              </a:defRPr>
            </a:pPr>
            <a:r>
              <a:t>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97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→ Static Data Client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OpenF1 Client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Jolpica Client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399"/>
            <a:ext cx="11277295" cy="1234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5440679"/>
            <a:ext cx="11277295" cy="1234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440679"/>
            <a:ext cx="45720" cy="1234440"/>
          </a:xfrm>
          <a:prstGeom prst="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F62"/>
                </a:solidFill>
              </a:defRPr>
            </a:pPr>
            <a:r>
              <a:t>DOMAIN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62355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→ Session Service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Circuit Geometry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→ Team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6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FEATURES: LIVE RACE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5720" cy="23774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10600"/>
                </a:solidFill>
              </a:defRPr>
            </a:pPr>
            <a:r>
              <a:t>Session Countdown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Real-time timer with millisecond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45720" cy="237744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000"/>
                </a:solidFill>
              </a:defRPr>
            </a:pPr>
            <a:r>
              <a:t>Weekend Timetable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All sessions with timezone 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45720" cy="23774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BE"/>
                </a:solidFill>
              </a:defRPr>
            </a:pPr>
            <a:r>
              <a:t>Next Race Hero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Circuit SVG outline with key stats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6908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45720" cy="2377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1C24"/>
                </a:solidFill>
              </a:defRPr>
            </a:pPr>
            <a:r>
              <a:t>Season 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Round selector with status indicators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06908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80" y="402336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023360"/>
            <a:ext cx="45720" cy="2377440"/>
          </a:xfrm>
          <a:prstGeom prst="rect">
            <a:avLst/>
          </a:prstGeom>
          <a:solidFill>
            <a:srgbClr val="1E4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297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1FF"/>
                </a:solidFill>
              </a:defRPr>
            </a:pPr>
            <a:r>
              <a:t>Championship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Driver &amp; Constructor standings snapshot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069080"/>
            <a:ext cx="3657600" cy="237744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4023360"/>
            <a:ext cx="3657600" cy="237744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023360"/>
            <a:ext cx="45720" cy="2377440"/>
          </a:xfrm>
          <a:prstGeom prst="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297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F62"/>
                </a:solidFill>
              </a:defRPr>
            </a:pPr>
            <a:r>
              <a:t>Quick Lookup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Command palette driver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214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FEATURES: RACE REPLAY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73152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73152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45720" cy="5029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BE"/>
                </a:solidFill>
              </a:defRPr>
            </a:pPr>
            <a:r>
              <a:t>INTERACTIVE 2D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6858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  <a:r>
              <a:t>→ 20 cars animated on authentic GPS track geometry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Real-time positions with timing tower sidebar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Variable playback: 0.1x to 256x speed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Camera modes: Track / Car / Battle follow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DRS zones &amp; sector markers visualized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Weather conditions per lap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Safety car &amp; flag status indicators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Fullscreen theater mode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→ Keyboard shortcuts for all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65760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10600"/>
                </a:solidFill>
              </a:defRPr>
            </a:pPr>
            <a:r>
              <a:t>60 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600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Animation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06040"/>
            <a:ext cx="365760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10600"/>
                </a:solidFill>
              </a:defRPr>
            </a:pPr>
            <a:r>
              <a:t>35+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8346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Circuits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840480"/>
            <a:ext cx="365760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776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10600"/>
                </a:solidFill>
              </a:defRPr>
            </a:pPr>
            <a:r>
              <a:t>256x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0690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Max Speed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074920"/>
            <a:ext cx="365760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212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10600"/>
                </a:solidFill>
              </a:defRPr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3035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Cars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2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 SOURCES &amp;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45720" cy="1188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0" y="1554480"/>
            <a:ext cx="1463040" cy="320040"/>
          </a:xfrm>
          <a:prstGeom prst="round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10600"/>
                </a:solidFill>
              </a:defRPr>
            </a:pPr>
            <a:r>
              <a:t>OpenF1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Live Session Status, Car Telemetry, Team Radio, Race Control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45720" cy="1188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0" y="2880360"/>
            <a:ext cx="1463040" cy="320040"/>
          </a:xfrm>
          <a:prstGeom prst="round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HISTORICAL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Jolpica Ergast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26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Race Schedules, Results, Standings, Historical Archives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6908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45720" cy="1188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0" y="4206240"/>
            <a:ext cx="1463040" cy="320040"/>
          </a:xfrm>
          <a:prstGeom prst="round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BE"/>
                </a:solidFill>
              </a:defRPr>
            </a:pPr>
            <a:r>
              <a:t>FastF1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519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GPS Circuit Geometry, Racing Lines, DRS Zones, Corner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9496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34924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45720" cy="1188720"/>
          </a:xfrm>
          <a:prstGeom prst="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5532120"/>
            <a:ext cx="1463040" cy="320040"/>
          </a:xfrm>
          <a:prstGeom prst="round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F62"/>
                </a:solidFill>
              </a:defRPr>
            </a:pPr>
            <a:r>
              <a:t>Static 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778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Pre-extracted Laps, Positions, Stints, Weather, Pit Stops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→ Intelligent fallback chain: Static → Jolpica → Mock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21418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CIRCUIT GEOMETRY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68580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68580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45720" cy="5029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  <a:r>
              <a:t>→ Real GPS coordinates from FastF1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SVG-based rendering with boundaries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Racing line calculation via normal offsets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DRS zone highlighting with glow effects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Turn/corner markers with sector colors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Checkered start/finish line positioning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35+ historic and current F1 circuits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→ Fallback path generation for missing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SECTOR COLORS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286000"/>
            <a:ext cx="457200" cy="457200"/>
          </a:xfrm>
          <a:prstGeom prst="roundRect">
            <a:avLst/>
          </a:prstGeom>
          <a:solidFill>
            <a:srgbClr val="A02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Sector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2608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Sector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566160"/>
            <a:ext cx="457200" cy="457200"/>
          </a:xfrm>
          <a:prstGeom prst="round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Sector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0"/>
            <a:ext cx="3840480" cy="16459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47548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10600"/>
                </a:solidFill>
              </a:defRPr>
            </a:pPr>
            <a:r>
              <a:t>35+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Circuits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218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UI/UX DESIGN PHILOSOPHY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5720" cy="5029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0600"/>
                </a:solidFill>
              </a:defRPr>
            </a:pPr>
            <a:r>
              <a:t>VISUAL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FFFFFF"/>
                </a:solidFill>
              </a:defRPr>
            </a:pPr>
            <a:r>
              <a:t>→ F1-inspired dark theme default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Barlow Condensed &amp; Titillium Web fonts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FIA-standard sector colors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Team livery accents throughout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WCAG AA accessibility compliant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View Transitions API animations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Smooth circular reveal effects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5255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9535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45720" cy="5029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3855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2BE"/>
                </a:solidFill>
              </a:defRPr>
            </a:pPr>
            <a:r>
              <a:t>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FFFFFF"/>
                </a:solidFill>
              </a:defRPr>
            </a:pPr>
            <a:r>
              <a:t>→ Keyboard shortcuts for all controls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Command palette (Cmd+K) navigation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Timezone-aware session times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Mobile-responsive layout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Loading skeletons matching UI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Reduced motion support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→ Persistent user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214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TELEMETRY &amp;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277295" cy="16459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77295" cy="16459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45720" cy="1645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10600"/>
                </a:solidFill>
              </a:defRPr>
            </a:pPr>
            <a:r>
              <a:t>LIVE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Driver speed, throttle, brake 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Gear &amp; RPM real-time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25 Hz telemetry stream 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Track position map (real &amp; schematic)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00400"/>
            <a:ext cx="11277295" cy="16459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154680"/>
            <a:ext cx="11277295" cy="16459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45720" cy="1645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000"/>
                </a:solidFill>
              </a:defRPr>
            </a:pPr>
            <a:r>
              <a:t>F1 INSIGHTS 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94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Sector times breakdown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Tyre strategy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94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Race control message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94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Lap &amp; gap evolution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11277295" cy="16459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4937760"/>
            <a:ext cx="11277295" cy="16459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45720" cy="16459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BE"/>
                </a:solidFill>
              </a:defRPr>
            </a:pPr>
            <a:r>
              <a:t>BAYESIAN TYRE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State-space degradation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Compound-specific profiles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Optimal pit window estimation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→ Projected pace drop-off curves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218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10600"/>
                </a:solidFill>
                <a:latin typeface="Consolas"/>
              </a:defRPr>
            </a:pPr>
            <a:r>
              <a:t>/src/api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API clients, hooks, static data 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000"/>
                </a:solidFill>
                <a:latin typeface="Consolas"/>
              </a:defRPr>
            </a:pPr>
            <a:r>
              <a:t>/src/components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Reusable UI: Layout, Buttons, Dialogs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5176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2BE"/>
                </a:solidFill>
                <a:latin typeface="Consolas"/>
              </a:defRPr>
            </a:pPr>
            <a:r>
              <a:t>/src/context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React Context: Theme, Timezone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5176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F62"/>
                </a:solidFill>
                <a:latin typeface="Consolas"/>
              </a:defRPr>
            </a:pPr>
            <a:r>
              <a:t>/src/features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Feature modules: race, hero, standings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1C24"/>
                </a:solidFill>
                <a:latin typeface="Consolas"/>
              </a:defRPr>
            </a:pPr>
            <a:r>
              <a:t>/src/lib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Utilities: circuits, teams, flags,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1E4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1FF"/>
                </a:solidFill>
                <a:latin typeface="Consolas"/>
              </a:defRPr>
            </a:pPr>
            <a:r>
              <a:t>/src/pages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26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Route-level page components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212079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0FF"/>
                </a:solidFill>
                <a:latin typeface="Consolas"/>
              </a:defRPr>
            </a:pPr>
            <a:r>
              <a:t>/src/types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3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TypeScript interface definitions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212079"/>
            <a:ext cx="5669280" cy="109728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96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39495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64C8"/>
                </a:solidFill>
                <a:latin typeface="Consolas"/>
              </a:defRPr>
            </a:pPr>
            <a:r>
              <a:t>/data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806439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Pre-extracted JSON datasets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214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CODE QUALITY &amp;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5720" cy="5029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10600"/>
                </a:solidFill>
              </a:defRPr>
            </a:pPr>
            <a:r>
              <a:t>ARCHITECTURE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→ Single Responsibility Principle (SRP)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Interface Segregation Principle (ISP)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Open/Closed Principle (OCP)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Custom React hooks for data fetching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Compound component pattern for UI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Context + Hook pattern for state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Error boundary pattern for resilience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5255" y="1417320"/>
            <a:ext cx="5486400" cy="502920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9535" y="1371600"/>
            <a:ext cx="5486400" cy="502920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45720" cy="5029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3855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BE"/>
                </a:solidFill>
              </a:defRPr>
            </a:pPr>
            <a:r>
              <a:t>BEST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→ TypeScript strict mode enabled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Oxlint for fast linting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Proper error handling (try/catch)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AbortController for timeouts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localStorage JSON serialization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Accessibility-first design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→ Semantic HTML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218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PERFORMANCE OPTIMIZATIONS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0600"/>
                </a:solidFill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Cache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137160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9" y="15087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0600"/>
                </a:solidFill>
              </a:defRPr>
            </a:pPr>
            <a: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59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FPS Animation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087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0600"/>
                </a:solidFill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API Calls (cached)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19" y="137160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9" y="15087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0600"/>
                </a:solidFill>
              </a:defRPr>
            </a:pPr>
            <a:r>
              <a:t>~50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9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KB Bundle (gzip)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971800"/>
            <a:ext cx="11430000" cy="3474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2926080"/>
            <a:ext cx="11430000" cy="3474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45720" cy="3474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 b="1">
                <a:solidFill>
                  <a:srgbClr val="00D2BE"/>
                </a:solidFill>
              </a:defRPr>
            </a:pPr>
            <a:r>
              <a:t>→ TanStack Query: </a:t>
            </a:r>
            <a:r>
              <a:rPr b="0">
                <a:solidFill>
                  <a:srgbClr val="CBD5E1"/>
                </a:solidFill>
              </a:rPr>
              <a:t>24-hour cache persistence with localStorage for offline support</a:t>
            </a:r>
          </a:p>
          <a:p>
            <a:pPr>
              <a:spcBef>
                <a:spcPts val="1200"/>
              </a:spcBef>
              <a:defRPr sz="1700" b="1">
                <a:solidFill>
                  <a:srgbClr val="00D2BE"/>
                </a:solidFill>
              </a:defRPr>
            </a:pPr>
            <a:r>
              <a:t>→ Lazy Loading: </a:t>
            </a:r>
            <a:r>
              <a:rPr b="0">
                <a:solidFill>
                  <a:srgbClr val="CBD5E1"/>
                </a:solidFill>
              </a:rPr>
              <a:t>React.lazy + Suspense for route-level code splitting</a:t>
            </a:r>
          </a:p>
          <a:p>
            <a:pPr>
              <a:spcBef>
                <a:spcPts val="1200"/>
              </a:spcBef>
              <a:defRPr sz="1700" b="1">
                <a:solidFill>
                  <a:srgbClr val="00D2BE"/>
                </a:solidFill>
              </a:defRPr>
            </a:pPr>
            <a:r>
              <a:t>→ Memoization: </a:t>
            </a:r>
            <a:r>
              <a:rPr b="0">
                <a:solidFill>
                  <a:srgbClr val="CBD5E1"/>
                </a:solidFill>
              </a:rPr>
              <a:t>useMemo &amp; useCallback for expensive computations</a:t>
            </a:r>
          </a:p>
          <a:p>
            <a:pPr>
              <a:spcBef>
                <a:spcPts val="1200"/>
              </a:spcBef>
              <a:defRPr sz="1700" b="1">
                <a:solidFill>
                  <a:srgbClr val="00D2BE"/>
                </a:solidFill>
              </a:defRPr>
            </a:pPr>
            <a:r>
              <a:t>→ requestAnimationFrame: </a:t>
            </a:r>
            <a:r>
              <a:rPr b="0">
                <a:solidFill>
                  <a:srgbClr val="CBD5E1"/>
                </a:solidFill>
              </a:rPr>
              <a:t>Smooth 60fps race animations</a:t>
            </a:r>
          </a:p>
          <a:p>
            <a:pPr>
              <a:spcBef>
                <a:spcPts val="1200"/>
              </a:spcBef>
              <a:defRPr sz="1700" b="1">
                <a:solidFill>
                  <a:srgbClr val="00D2BE"/>
                </a:solidFill>
              </a:defRPr>
            </a:pPr>
            <a:r>
              <a:t>→ SVG Caching: </a:t>
            </a:r>
            <a:r>
              <a:rPr b="0">
                <a:solidFill>
                  <a:srgbClr val="CBD5E1"/>
                </a:solidFill>
              </a:rPr>
              <a:t>Single geometry object per circuit</a:t>
            </a:r>
          </a:p>
          <a:p>
            <a:pPr>
              <a:spcBef>
                <a:spcPts val="1200"/>
              </a:spcBef>
              <a:defRPr sz="1700" b="1">
                <a:solidFill>
                  <a:srgbClr val="00D2BE"/>
                </a:solidFill>
              </a:defRPr>
            </a:pPr>
            <a:r>
              <a:t>→ Vite: </a:t>
            </a:r>
            <a:r>
              <a:rPr b="0">
                <a:solidFill>
                  <a:srgbClr val="CBD5E1"/>
                </a:solidFill>
              </a:rPr>
              <a:t>Lightning-fast HMR and optimized production builds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216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5720" cy="1188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10600"/>
                </a:solidFill>
              </a:defRPr>
            </a:pPr>
            <a:r>
              <a:t>WebSocket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Real-time live telemetry connection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45720" cy="1188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000"/>
                </a:solidFill>
              </a:defRPr>
            </a:pPr>
            <a:r>
              <a:t>ML Pit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Machine learning pit stop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4320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269748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45720" cy="1188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BE"/>
                </a:solidFill>
              </a:defRPr>
            </a:pPr>
            <a:r>
              <a:t>Historical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Year-over-year race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4320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269748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697480"/>
            <a:ext cx="45720" cy="1188720"/>
          </a:xfrm>
          <a:prstGeom prst="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880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F62"/>
                </a:solidFill>
              </a:defRPr>
            </a:pPr>
            <a:r>
              <a:t>Push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375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Session start reminders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06908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402336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45720" cy="1188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062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1C24"/>
                </a:solidFill>
              </a:defRPr>
            </a:pPr>
            <a:r>
              <a:t>Progressive Web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Mobile installation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06908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402336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023360"/>
            <a:ext cx="45720" cy="1188720"/>
          </a:xfrm>
          <a:prstGeom prst="rect">
            <a:avLst/>
          </a:prstGeom>
          <a:solidFill>
            <a:srgbClr val="1E4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2062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1FF"/>
                </a:solidFill>
              </a:defRPr>
            </a:pPr>
            <a:r>
              <a:t>Social Sharing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63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Share insights &amp; screenshots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39496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" y="534924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349240"/>
            <a:ext cx="45720" cy="1188720"/>
          </a:xfrm>
          <a:prstGeom prst="rect">
            <a:avLst/>
          </a:prstGeom>
          <a:solidFill>
            <a:srgbClr val="0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0FF"/>
                </a:solidFill>
              </a:defRPr>
            </a:pPr>
            <a:r>
              <a:t>Multi-language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89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International fan support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5394960"/>
            <a:ext cx="5669280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5349240"/>
            <a:ext cx="5669280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5349240"/>
            <a:ext cx="45720" cy="1188720"/>
          </a:xfrm>
          <a:prstGeom prst="rect">
            <a:avLst/>
          </a:prstGeom>
          <a:solidFill>
            <a:srgbClr val="96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5321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664C8"/>
                </a:solidFill>
              </a:defRPr>
            </a:pPr>
            <a:r>
              <a:t>Head-to-Head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989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Driver comparison overlay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4141A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-18288"/>
            <a:ext cx="12191695" cy="91440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HIGHLIGHTS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45720" cy="1188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10600"/>
                </a:solidFill>
              </a:defRPr>
            </a:pPr>
            <a:r>
              <a:t>View Transitions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Circular reveal animation from click coordinates for seamless theme switching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45720" cy="1188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000"/>
                </a:solidFill>
              </a:defRPr>
            </a:pPr>
            <a:r>
              <a:t>Bayesian Tyre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83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State-space calculations with compound-specific degradation profiles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6908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45720" cy="1188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51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BE"/>
                </a:solidFill>
              </a:defRPr>
            </a:pPr>
            <a:r>
              <a:t>GPS Track Geometry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35+ circuits with authentic FastF1 racing lines and DRS zones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94960"/>
            <a:ext cx="11277295" cy="1188720"/>
          </a:xfrm>
          <a:prstGeom prst="round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349240"/>
            <a:ext cx="11277295" cy="1188720"/>
          </a:xfrm>
          <a:prstGeom prst="round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45720" cy="1188720"/>
          </a:xfrm>
          <a:prstGeom prst="rect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006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F62"/>
                </a:solidFill>
              </a:defRPr>
            </a:pPr>
            <a:r>
              <a:t>Intelligent Fallbacks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6035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Multi-source data pipeline with graceful degradation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315200" y="0"/>
            <a:ext cx="4876495" cy="6858000"/>
          </a:xfrm>
          <a:prstGeom prst="rtTriangle">
            <a:avLst/>
          </a:prstGeom>
          <a:solidFill>
            <a:srgbClr val="19141E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10972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07792"/>
            <a:ext cx="12191695" cy="146304"/>
          </a:xfrm>
          <a:prstGeom prst="rect">
            <a:avLst/>
          </a:prstGeom>
          <a:solidFill>
            <a:srgbClr val="E106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BD5E1"/>
                </a:solidFill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10600"/>
                </a:solidFill>
              </a:defRPr>
            </a:pPr>
            <a:r>
              <a:t>PitWall F1 Fan Hub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React 19  |  TypeScript  |  Tailwind CSS 4  | 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34495" y="6784848"/>
            <a:ext cx="457200" cy="7315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6400800"/>
            <a:ext cx="73152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